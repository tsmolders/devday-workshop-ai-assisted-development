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Overview. Users and tools connect to LiteLLM. Behind it, we expose approved models from Azure, AWS Bedrock and Mistral.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Platform Engineer responsibilities and approved models per platform. Morph zooms into the platforms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Back to overview. Logs and Observability appears under LiteLLM for unified monitoring across all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for AI</a:t>
            </a:r>
            <a:endParaRPr lang="en-US" sz="2600" dirty="0"/>
          </a:p>
        </p:txBody>
      </p:sp>
      <p:sp>
        <p:nvSpPr>
          <p:cNvPr id="4" name="LiteLLM"/>
          <p:cNvSpPr/>
          <p:nvPr/>
        </p:nvSpPr>
        <p:spPr>
          <a:xfrm>
            <a:off x="2011680" y="23317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 w="31750">
            <a:solidFill>
              <a:srgbClr val="BDDB00"/>
            </a:solidFill>
            <a:prstDash val="solid"/>
          </a:ln>
        </p:spPr>
      </p:sp>
      <p:sp>
        <p:nvSpPr>
          <p:cNvPr id="5" name="LiteLLM text"/>
          <p:cNvSpPr/>
          <p:nvPr/>
        </p:nvSpPr>
        <p:spPr>
          <a:xfrm>
            <a:off x="201168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4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4000" dirty="0"/>
          </a:p>
        </p:txBody>
      </p:sp>
      <p:sp>
        <p:nvSpPr>
          <p:cNvPr id="6" name="Link"/>
          <p:cNvSpPr/>
          <p:nvPr/>
        </p:nvSpPr>
        <p:spPr>
          <a:xfrm>
            <a:off x="6035040" y="3429000"/>
            <a:ext cx="1188720" cy="0"/>
          </a:xfrm>
          <a:prstGeom prst="line">
            <a:avLst/>
          </a:prstGeom>
          <a:noFill/>
          <a:ln w="25400">
            <a:solidFill>
              <a:srgbClr val="BDDB00"/>
            </a:solidFill>
            <a:prstDash val="dash"/>
          </a:ln>
        </p:spPr>
      </p:sp>
      <p:sp>
        <p:nvSpPr>
          <p:cNvPr id="7" name="Platforms panel"/>
          <p:cNvSpPr/>
          <p:nvPr/>
        </p:nvSpPr>
        <p:spPr>
          <a:xfrm>
            <a:off x="7223760" y="1371600"/>
            <a:ext cx="4480560" cy="4114800"/>
          </a:xfrm>
          <a:prstGeom prst="roundRect">
            <a:avLst>
              <a:gd name="adj" fmla="val 2222"/>
            </a:avLst>
          </a:prstGeom>
          <a:solidFill>
            <a:srgbClr val="131B31"/>
          </a:solidFill>
          <a:ln w="15875">
            <a:solidFill>
              <a:srgbClr val="3A4A75"/>
            </a:solidFill>
            <a:prstDash val="solid"/>
          </a:ln>
        </p:spPr>
      </p:sp>
      <p:sp>
        <p:nvSpPr>
          <p:cNvPr id="8" name="Platforms label"/>
          <p:cNvSpPr/>
          <p:nvPr/>
        </p:nvSpPr>
        <p:spPr>
          <a:xfrm>
            <a:off x="749808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B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model platforms</a:t>
            </a:r>
            <a:endParaRPr lang="en-US" sz="1400" dirty="0"/>
          </a:p>
        </p:txBody>
      </p:sp>
      <p:sp>
        <p:nvSpPr>
          <p:cNvPr id="9" name="Card azure"/>
          <p:cNvSpPr/>
          <p:nvPr/>
        </p:nvSpPr>
        <p:spPr>
          <a:xfrm>
            <a:off x="7498080" y="19659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0" name="Badge azure"/>
          <p:cNvSpPr/>
          <p:nvPr/>
        </p:nvSpPr>
        <p:spPr>
          <a:xfrm>
            <a:off x="7635240" y="21031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1" name="Logo azure" descr="logos/azur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94560"/>
            <a:ext cx="457200" cy="457200"/>
          </a:xfrm>
          <a:prstGeom prst="rect">
            <a:avLst/>
          </a:prstGeom>
        </p:spPr>
      </p:pic>
      <p:sp>
        <p:nvSpPr>
          <p:cNvPr id="12" name="Name azure"/>
          <p:cNvSpPr/>
          <p:nvPr/>
        </p:nvSpPr>
        <p:spPr>
          <a:xfrm>
            <a:off x="841248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800" dirty="0"/>
          </a:p>
        </p:txBody>
      </p:sp>
      <p:sp>
        <p:nvSpPr>
          <p:cNvPr id="13" name="Card bedrock"/>
          <p:cNvSpPr/>
          <p:nvPr/>
        </p:nvSpPr>
        <p:spPr>
          <a:xfrm>
            <a:off x="7498080" y="30632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4" name="Badge bedrock"/>
          <p:cNvSpPr/>
          <p:nvPr/>
        </p:nvSpPr>
        <p:spPr>
          <a:xfrm>
            <a:off x="7635240" y="3200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5" name="Logo bedrock" descr="logos/aws.s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291840"/>
            <a:ext cx="457200" cy="457200"/>
          </a:xfrm>
          <a:prstGeom prst="rect">
            <a:avLst/>
          </a:prstGeom>
        </p:spPr>
      </p:pic>
      <p:sp>
        <p:nvSpPr>
          <p:cNvPr id="16" name="Name bedrock"/>
          <p:cNvSpPr/>
          <p:nvPr/>
        </p:nvSpPr>
        <p:spPr>
          <a:xfrm>
            <a:off x="841248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800" dirty="0"/>
          </a:p>
        </p:txBody>
      </p:sp>
      <p:sp>
        <p:nvSpPr>
          <p:cNvPr id="17" name="Card mistral"/>
          <p:cNvSpPr/>
          <p:nvPr/>
        </p:nvSpPr>
        <p:spPr>
          <a:xfrm>
            <a:off x="7498080" y="41605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8" name="Badge mistral"/>
          <p:cNvSpPr/>
          <p:nvPr/>
        </p:nvSpPr>
        <p:spPr>
          <a:xfrm>
            <a:off x="7635240" y="42976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9" name="Logo mistral" descr="logos/mistral.s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4389120"/>
            <a:ext cx="457200" cy="457200"/>
          </a:xfrm>
          <a:prstGeom prst="rect">
            <a:avLst/>
          </a:prstGeom>
        </p:spPr>
      </p:pic>
      <p:sp>
        <p:nvSpPr>
          <p:cNvPr id="20" name="Name mistral"/>
          <p:cNvSpPr/>
          <p:nvPr/>
        </p:nvSpPr>
        <p:spPr>
          <a:xfrm>
            <a:off x="841248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800" dirty="0"/>
          </a:p>
        </p:txBody>
      </p:sp>
      <p:sp>
        <p:nvSpPr>
          <p:cNvPr id="21" name="Footnote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models only, exposed through one gateway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in: behind the gateway</a:t>
            </a:r>
            <a:endParaRPr lang="en-US" sz="2600" dirty="0"/>
          </a:p>
        </p:txBody>
      </p:sp>
      <p:sp>
        <p:nvSpPr>
          <p:cNvPr id="4" name="LiteLLM"/>
          <p:cNvSpPr/>
          <p:nvPr/>
        </p:nvSpPr>
        <p:spPr>
          <a:xfrm>
            <a:off x="457200" y="100584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A2540"/>
          </a:solidFill>
          <a:ln w="31750">
            <a:solidFill>
              <a:srgbClr val="BDDB00"/>
            </a:solidFill>
            <a:prstDash val="solid"/>
          </a:ln>
        </p:spPr>
      </p:sp>
      <p:sp>
        <p:nvSpPr>
          <p:cNvPr id="5" name="LiteLLM text"/>
          <p:cNvSpPr/>
          <p:nvPr/>
        </p:nvSpPr>
        <p:spPr>
          <a:xfrm>
            <a:off x="457200" y="1005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2800" dirty="0"/>
          </a:p>
        </p:txBody>
      </p:sp>
      <p:sp>
        <p:nvSpPr>
          <p:cNvPr id="6" name="Link"/>
          <p:cNvSpPr/>
          <p:nvPr/>
        </p:nvSpPr>
        <p:spPr>
          <a:xfrm>
            <a:off x="3566160" y="1600200"/>
            <a:ext cx="274320" cy="0"/>
          </a:xfrm>
          <a:prstGeom prst="line">
            <a:avLst/>
          </a:prstGeom>
          <a:noFill/>
          <a:ln w="25400">
            <a:solidFill>
              <a:srgbClr val="BDDB00"/>
            </a:solidFill>
            <a:prstDash val="dash"/>
          </a:ln>
        </p:spPr>
      </p:sp>
      <p:sp>
        <p:nvSpPr>
          <p:cNvPr id="7" name="Platforms panel"/>
          <p:cNvSpPr/>
          <p:nvPr/>
        </p:nvSpPr>
        <p:spPr>
          <a:xfrm>
            <a:off x="3840480" y="1005840"/>
            <a:ext cx="7863840" cy="5029200"/>
          </a:xfrm>
          <a:prstGeom prst="roundRect">
            <a:avLst>
              <a:gd name="adj" fmla="val 1818"/>
            </a:avLst>
          </a:prstGeom>
          <a:solidFill>
            <a:srgbClr val="131B31"/>
          </a:solidFill>
          <a:ln w="15875">
            <a:solidFill>
              <a:srgbClr val="3A4A75"/>
            </a:solidFill>
            <a:prstDash val="solid"/>
          </a:ln>
        </p:spPr>
      </p:sp>
      <p:sp>
        <p:nvSpPr>
          <p:cNvPr id="8" name="Platforms label"/>
          <p:cNvSpPr/>
          <p:nvPr/>
        </p:nvSpPr>
        <p:spPr>
          <a:xfrm>
            <a:off x="411480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B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model platforms</a:t>
            </a:r>
            <a:endParaRPr lang="en-US" sz="1400" dirty="0"/>
          </a:p>
        </p:txBody>
      </p:sp>
      <p:sp>
        <p:nvSpPr>
          <p:cNvPr id="9" name="Card azure"/>
          <p:cNvSpPr/>
          <p:nvPr/>
        </p:nvSpPr>
        <p:spPr>
          <a:xfrm>
            <a:off x="4114800" y="1600200"/>
            <a:ext cx="2331720" cy="4206240"/>
          </a:xfrm>
          <a:prstGeom prst="roundRect">
            <a:avLst>
              <a:gd name="adj" fmla="val 3922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0" name="Badge azure"/>
          <p:cNvSpPr/>
          <p:nvPr/>
        </p:nvSpPr>
        <p:spPr>
          <a:xfrm>
            <a:off x="425196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1" name="Logo azure" descr="logos/azur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828800"/>
            <a:ext cx="457200" cy="457200"/>
          </a:xfrm>
          <a:prstGeom prst="rect">
            <a:avLst/>
          </a:prstGeom>
        </p:spPr>
      </p:pic>
      <p:sp>
        <p:nvSpPr>
          <p:cNvPr id="12" name="Name azure"/>
          <p:cNvSpPr/>
          <p:nvPr/>
        </p:nvSpPr>
        <p:spPr>
          <a:xfrm>
            <a:off x="5029200" y="1737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500" dirty="0"/>
          </a:p>
        </p:txBody>
      </p:sp>
      <p:sp>
        <p:nvSpPr>
          <p:cNvPr id="13" name="Kind azure"/>
          <p:cNvSpPr/>
          <p:nvPr/>
        </p:nvSpPr>
        <p:spPr>
          <a:xfrm>
            <a:off x="429768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direct models</a:t>
            </a:r>
            <a:endParaRPr lang="en-US" sz="1100" dirty="0"/>
          </a:p>
        </p:txBody>
      </p:sp>
      <p:sp>
        <p:nvSpPr>
          <p:cNvPr id="14" name="Models azure"/>
          <p:cNvSpPr/>
          <p:nvPr/>
        </p:nvSpPr>
        <p:spPr>
          <a:xfrm>
            <a:off x="4297680" y="2743200"/>
            <a:ext cx="1965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gpt-router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gpt-5.6-luna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gpt-6-luna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gpt-6-sol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gpt-6.1-sol</a:t>
            </a:r>
            <a:endParaRPr lang="en-US" sz="1000" dirty="0"/>
          </a:p>
        </p:txBody>
      </p:sp>
      <p:sp>
        <p:nvSpPr>
          <p:cNvPr id="15" name="Card bedrock"/>
          <p:cNvSpPr/>
          <p:nvPr/>
        </p:nvSpPr>
        <p:spPr>
          <a:xfrm>
            <a:off x="6583680" y="1600200"/>
            <a:ext cx="2331720" cy="4206240"/>
          </a:xfrm>
          <a:prstGeom prst="roundRect">
            <a:avLst>
              <a:gd name="adj" fmla="val 3922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6" name="Badge bedrock"/>
          <p:cNvSpPr/>
          <p:nvPr/>
        </p:nvSpPr>
        <p:spPr>
          <a:xfrm>
            <a:off x="672084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7" name="Logo bedrock" descr="logos/aws.s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457200" cy="457200"/>
          </a:xfrm>
          <a:prstGeom prst="rect">
            <a:avLst/>
          </a:prstGeom>
        </p:spPr>
      </p:pic>
      <p:sp>
        <p:nvSpPr>
          <p:cNvPr id="18" name="Name bedrock"/>
          <p:cNvSpPr/>
          <p:nvPr/>
        </p:nvSpPr>
        <p:spPr>
          <a:xfrm>
            <a:off x="7498080" y="1737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19" name="Kind bedrock"/>
          <p:cNvSpPr/>
          <p:nvPr/>
        </p:nvSpPr>
        <p:spPr>
          <a:xfrm>
            <a:off x="676656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direct models</a:t>
            </a:r>
            <a:endParaRPr lang="en-US" sz="1100" dirty="0"/>
          </a:p>
        </p:txBody>
      </p:sp>
      <p:sp>
        <p:nvSpPr>
          <p:cNvPr id="20" name="Models bedrock"/>
          <p:cNvSpPr/>
          <p:nvPr/>
        </p:nvSpPr>
        <p:spPr>
          <a:xfrm>
            <a:off x="6766560" y="2743200"/>
            <a:ext cx="1965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claude-router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claude-sonnet-4.6-bedrock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claude-haiku-4.5-bedrock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claude-sonnet-5-bedrock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claude-sonnet-5.5-bedrock</a:t>
            </a:r>
            <a:endParaRPr lang="en-US" sz="1000" dirty="0"/>
          </a:p>
        </p:txBody>
      </p:sp>
      <p:sp>
        <p:nvSpPr>
          <p:cNvPr id="21" name="Card mistral"/>
          <p:cNvSpPr/>
          <p:nvPr/>
        </p:nvSpPr>
        <p:spPr>
          <a:xfrm>
            <a:off x="9052560" y="1600200"/>
            <a:ext cx="2331720" cy="4206240"/>
          </a:xfrm>
          <a:prstGeom prst="roundRect">
            <a:avLst>
              <a:gd name="adj" fmla="val 3922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22" name="Badge mistral"/>
          <p:cNvSpPr/>
          <p:nvPr/>
        </p:nvSpPr>
        <p:spPr>
          <a:xfrm>
            <a:off x="918972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23" name="Logo mistral" descr="logos/mistral.s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828800"/>
            <a:ext cx="457200" cy="457200"/>
          </a:xfrm>
          <a:prstGeom prst="rect">
            <a:avLst/>
          </a:prstGeom>
        </p:spPr>
      </p:pic>
      <p:sp>
        <p:nvSpPr>
          <p:cNvPr id="24" name="Name mistral"/>
          <p:cNvSpPr/>
          <p:nvPr/>
        </p:nvSpPr>
        <p:spPr>
          <a:xfrm>
            <a:off x="9966960" y="1737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500" dirty="0"/>
          </a:p>
        </p:txBody>
      </p:sp>
      <p:sp>
        <p:nvSpPr>
          <p:cNvPr id="25" name="Kind mistral"/>
          <p:cNvSpPr/>
          <p:nvPr/>
        </p:nvSpPr>
        <p:spPr>
          <a:xfrm>
            <a:off x="923544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models</a:t>
            </a:r>
            <a:endParaRPr lang="en-US" sz="1100" dirty="0"/>
          </a:p>
        </p:txBody>
      </p:sp>
      <p:sp>
        <p:nvSpPr>
          <p:cNvPr id="26" name="Models mistral"/>
          <p:cNvSpPr/>
          <p:nvPr/>
        </p:nvSpPr>
        <p:spPr>
          <a:xfrm>
            <a:off x="9235440" y="2743200"/>
            <a:ext cx="1965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mistral-zai-glm-5-3</a:t>
            </a:r>
            <a:endParaRPr lang="en-US" sz="1000" dirty="0"/>
          </a:p>
        </p:txBody>
      </p:sp>
      <p:sp>
        <p:nvSpPr>
          <p:cNvPr id="27" name="Tasks panel"/>
          <p:cNvSpPr/>
          <p:nvPr/>
        </p:nvSpPr>
        <p:spPr>
          <a:xfrm>
            <a:off x="457200" y="2423160"/>
            <a:ext cx="3108960" cy="3611880"/>
          </a:xfrm>
          <a:prstGeom prst="roundRect">
            <a:avLst>
              <a:gd name="adj" fmla="val 2941"/>
            </a:avLst>
          </a:prstGeom>
          <a:solidFill>
            <a:srgbClr val="131B31"/>
          </a:solidFill>
          <a:ln w="19050">
            <a:solidFill>
              <a:srgbClr val="DE0073"/>
            </a:solidFill>
            <a:prstDash val="solid"/>
          </a:ln>
        </p:spPr>
      </p:sp>
      <p:sp>
        <p:nvSpPr>
          <p:cNvPr id="28" name="Tasks title"/>
          <p:cNvSpPr/>
          <p:nvPr/>
        </p:nvSpPr>
        <p:spPr>
          <a:xfrm>
            <a:off x="6400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E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 as Platform Engineer</a:t>
            </a:r>
            <a:endParaRPr lang="en-US" sz="1500" dirty="0"/>
          </a:p>
        </p:txBody>
      </p:sp>
      <p:sp>
        <p:nvSpPr>
          <p:cNvPr id="29" name="Tasks list"/>
          <p:cNvSpPr/>
          <p:nvPr/>
        </p:nvSpPr>
        <p:spPr>
          <a:xfrm>
            <a:off x="640080" y="310896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Request and approve model access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Request and monitor quota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Configure aliases and routing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PII guardrails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usage and cost</a:t>
            </a:r>
            <a:endParaRPr lang="en-US" sz="1400" dirty="0"/>
          </a:p>
        </p:txBody>
      </p:sp>
      <p:sp>
        <p:nvSpPr>
          <p:cNvPr id="30" name="Footnote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 October 2026. All approved models. Verify aliases before presenting.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full visibility</a:t>
            </a:r>
            <a:endParaRPr lang="en-US" sz="2600" dirty="0"/>
          </a:p>
        </p:txBody>
      </p:sp>
      <p:sp>
        <p:nvSpPr>
          <p:cNvPr id="4" name="LiteLLM"/>
          <p:cNvSpPr/>
          <p:nvPr/>
        </p:nvSpPr>
        <p:spPr>
          <a:xfrm>
            <a:off x="2011680" y="23317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 w="31750">
            <a:solidFill>
              <a:srgbClr val="BDDB00"/>
            </a:solidFill>
            <a:prstDash val="solid"/>
          </a:ln>
        </p:spPr>
      </p:sp>
      <p:sp>
        <p:nvSpPr>
          <p:cNvPr id="5" name="LiteLLM text"/>
          <p:cNvSpPr/>
          <p:nvPr/>
        </p:nvSpPr>
        <p:spPr>
          <a:xfrm>
            <a:off x="201168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4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D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4000" dirty="0"/>
          </a:p>
        </p:txBody>
      </p:sp>
      <p:sp>
        <p:nvSpPr>
          <p:cNvPr id="6" name="Link"/>
          <p:cNvSpPr/>
          <p:nvPr/>
        </p:nvSpPr>
        <p:spPr>
          <a:xfrm>
            <a:off x="6035040" y="3429000"/>
            <a:ext cx="1188720" cy="0"/>
          </a:xfrm>
          <a:prstGeom prst="line">
            <a:avLst/>
          </a:prstGeom>
          <a:noFill/>
          <a:ln w="25400">
            <a:solidFill>
              <a:srgbClr val="BDDB00"/>
            </a:solidFill>
            <a:prstDash val="dash"/>
          </a:ln>
        </p:spPr>
      </p:sp>
      <p:sp>
        <p:nvSpPr>
          <p:cNvPr id="7" name="Platforms panel"/>
          <p:cNvSpPr/>
          <p:nvPr/>
        </p:nvSpPr>
        <p:spPr>
          <a:xfrm>
            <a:off x="7223760" y="1371600"/>
            <a:ext cx="4480560" cy="4114800"/>
          </a:xfrm>
          <a:prstGeom prst="roundRect">
            <a:avLst>
              <a:gd name="adj" fmla="val 2222"/>
            </a:avLst>
          </a:prstGeom>
          <a:solidFill>
            <a:srgbClr val="131B31"/>
          </a:solidFill>
          <a:ln w="15875">
            <a:solidFill>
              <a:srgbClr val="3A4A75"/>
            </a:solidFill>
            <a:prstDash val="solid"/>
          </a:ln>
        </p:spPr>
      </p:sp>
      <p:sp>
        <p:nvSpPr>
          <p:cNvPr id="8" name="Platforms label"/>
          <p:cNvSpPr/>
          <p:nvPr/>
        </p:nvSpPr>
        <p:spPr>
          <a:xfrm>
            <a:off x="749808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B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model platforms</a:t>
            </a:r>
            <a:endParaRPr lang="en-US" sz="1400" dirty="0"/>
          </a:p>
        </p:txBody>
      </p:sp>
      <p:sp>
        <p:nvSpPr>
          <p:cNvPr id="9" name="Card azure"/>
          <p:cNvSpPr/>
          <p:nvPr/>
        </p:nvSpPr>
        <p:spPr>
          <a:xfrm>
            <a:off x="7498080" y="19659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0" name="Badge azure"/>
          <p:cNvSpPr/>
          <p:nvPr/>
        </p:nvSpPr>
        <p:spPr>
          <a:xfrm>
            <a:off x="7635240" y="21031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1" name="Logo azure" descr="logos/azur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94560"/>
            <a:ext cx="457200" cy="457200"/>
          </a:xfrm>
          <a:prstGeom prst="rect">
            <a:avLst/>
          </a:prstGeom>
        </p:spPr>
      </p:pic>
      <p:sp>
        <p:nvSpPr>
          <p:cNvPr id="12" name="Name azure"/>
          <p:cNvSpPr/>
          <p:nvPr/>
        </p:nvSpPr>
        <p:spPr>
          <a:xfrm>
            <a:off x="841248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800" dirty="0"/>
          </a:p>
        </p:txBody>
      </p:sp>
      <p:sp>
        <p:nvSpPr>
          <p:cNvPr id="13" name="Card bedrock"/>
          <p:cNvSpPr/>
          <p:nvPr/>
        </p:nvSpPr>
        <p:spPr>
          <a:xfrm>
            <a:off x="7498080" y="30632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4" name="Badge bedrock"/>
          <p:cNvSpPr/>
          <p:nvPr/>
        </p:nvSpPr>
        <p:spPr>
          <a:xfrm>
            <a:off x="7635240" y="3200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5" name="Logo bedrock" descr="logos/aws.s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291840"/>
            <a:ext cx="457200" cy="457200"/>
          </a:xfrm>
          <a:prstGeom prst="rect">
            <a:avLst/>
          </a:prstGeom>
        </p:spPr>
      </p:pic>
      <p:sp>
        <p:nvSpPr>
          <p:cNvPr id="16" name="Name bedrock"/>
          <p:cNvSpPr/>
          <p:nvPr/>
        </p:nvSpPr>
        <p:spPr>
          <a:xfrm>
            <a:off x="841248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800" dirty="0"/>
          </a:p>
        </p:txBody>
      </p:sp>
      <p:sp>
        <p:nvSpPr>
          <p:cNvPr id="17" name="Card mistral"/>
          <p:cNvSpPr/>
          <p:nvPr/>
        </p:nvSpPr>
        <p:spPr>
          <a:xfrm>
            <a:off x="7498080" y="416052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3A4A75"/>
            </a:solidFill>
            <a:prstDash val="solid"/>
          </a:ln>
        </p:spPr>
      </p:sp>
      <p:sp>
        <p:nvSpPr>
          <p:cNvPr id="18" name="Badge mistral"/>
          <p:cNvSpPr/>
          <p:nvPr/>
        </p:nvSpPr>
        <p:spPr>
          <a:xfrm>
            <a:off x="7635240" y="42976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7F8FC"/>
          </a:solidFill>
          <a:ln w="6350">
            <a:solidFill>
              <a:srgbClr val="F7F8FC"/>
            </a:solidFill>
            <a:prstDash val="solid"/>
          </a:ln>
        </p:spPr>
      </p:sp>
      <p:pic>
        <p:nvPicPr>
          <p:cNvPr id="19" name="Logo mistral" descr="logos/mistral.s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4389120"/>
            <a:ext cx="457200" cy="457200"/>
          </a:xfrm>
          <a:prstGeom prst="rect">
            <a:avLst/>
          </a:prstGeom>
        </p:spPr>
      </p:pic>
      <p:sp>
        <p:nvSpPr>
          <p:cNvPr id="20" name="Name mistral"/>
          <p:cNvSpPr/>
          <p:nvPr/>
        </p:nvSpPr>
        <p:spPr>
          <a:xfrm>
            <a:off x="841248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800" dirty="0"/>
          </a:p>
        </p:txBody>
      </p:sp>
      <p:sp>
        <p:nvSpPr>
          <p:cNvPr id="21" name="Observability link"/>
          <p:cNvSpPr/>
          <p:nvPr/>
        </p:nvSpPr>
        <p:spPr>
          <a:xfrm>
            <a:off x="4023360" y="4526280"/>
            <a:ext cx="0" cy="411480"/>
          </a:xfrm>
          <a:prstGeom prst="line">
            <a:avLst/>
          </a:prstGeom>
          <a:noFill/>
          <a:ln w="25400">
            <a:solidFill>
              <a:srgbClr val="FFBE78"/>
            </a:solidFill>
            <a:prstDash val="dash"/>
          </a:ln>
        </p:spPr>
      </p:sp>
      <p:sp>
        <p:nvSpPr>
          <p:cNvPr id="22" name="Observability"/>
          <p:cNvSpPr/>
          <p:nvPr/>
        </p:nvSpPr>
        <p:spPr>
          <a:xfrm>
            <a:off x="2011680" y="49377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31B31"/>
          </a:solidFill>
          <a:ln w="25400">
            <a:solidFill>
              <a:srgbClr val="FFBE78"/>
            </a:solidFill>
            <a:prstDash val="solid"/>
          </a:ln>
        </p:spPr>
      </p:sp>
      <p:sp>
        <p:nvSpPr>
          <p:cNvPr id="23" name="Observability text"/>
          <p:cNvSpPr/>
          <p:nvPr/>
        </p:nvSpPr>
        <p:spPr>
          <a:xfrm>
            <a:off x="2011680" y="4937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Observability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B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cost and usage</a:t>
            </a:r>
            <a:endParaRPr lang="en-US" sz="2000" dirty="0"/>
          </a:p>
        </p:txBody>
      </p:sp>
      <p:sp>
        <p:nvSpPr>
          <p:cNvPr id="24" name="Footnote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models only, exposed through one gateway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LiteLLM AI Gateway</dc:title>
  <dc:subject>PptxGenJS Presentation</dc:subject>
  <dc:creator>PptxGenJS</dc:creator>
  <cp:lastModifiedBy>PptxGenJS</cp:lastModifiedBy>
  <cp:revision>1</cp:revision>
  <dcterms:created xsi:type="dcterms:W3CDTF">2026-10-06T12:51:19Z</dcterms:created>
  <dcterms:modified xsi:type="dcterms:W3CDTF">2026-10-06T12:51:19Z</dcterms:modified>
</cp:coreProperties>
</file>